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64008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640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CIPMS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Insurance Policy Management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16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Enterprise Web Application for End-to-End Insurance Operations &amp; Workflow Automation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P. Uma Maheswar Reddy  |  March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0" y="48006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Landscape vs. Digital Transformation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Solution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4475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173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Workflows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18105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Disconnected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9456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2157984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Paper-Heavy: 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on physical documents leads to slow processing and lost data.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85292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" y="281635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Error Rate: 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 in policy issuance, premium calculations, and claims data entry.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511296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672" y="347472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Silos: 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 for Agents, Claims Officers, and Customers causing gaps.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169664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4672" y="4133088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Platform: 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between quote generation, billing/EMI, and claims settlement.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434340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CD4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4846320" y="1298448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1444752"/>
            <a:ext cx="384048" cy="3840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532120" y="14173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CIPMS Platform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5532120" y="18105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&amp; Automated</a:t>
            </a:r>
            <a:endParaRPr lang="en-US" sz="9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2194560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76672" y="2157984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Digital Ecosystem: 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web application connecting Admin, Agents, Customers, and Officers.</a:t>
            </a:r>
            <a:endParaRPr lang="en-US" sz="9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7488" y="2852928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76672" y="281635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Automation: 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lifecycle from Quote → Policy → Claims.</a:t>
            </a:r>
            <a:endParaRPr lang="en-US" sz="9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7488" y="3511296"/>
            <a:ext cx="237744" cy="23774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76672" y="347472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Control: 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personalized dashboards for every stakeholder type.</a:t>
            </a:r>
            <a:endParaRPr lang="en-US" sz="9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7488" y="4169664"/>
            <a:ext cx="237744" cy="237744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76672" y="4133088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Features: 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tracking, automated billing/EMI, and digital document management.</a:t>
            </a:r>
            <a:endParaRPr lang="en-US" sz="900" dirty="0"/>
          </a:p>
        </p:txBody>
      </p:sp>
      <p:sp>
        <p:nvSpPr>
          <p:cNvPr id="30" name="Text 18"/>
          <p:cNvSpPr/>
          <p:nvPr/>
        </p:nvSpPr>
        <p:spPr>
          <a:xfrm>
            <a:off x="8503920" y="48006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406640" y="475488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754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Solution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4475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" y="1938528"/>
            <a:ext cx="24231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9385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965960" y="193852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38912" y="2450592"/>
            <a:ext cx="24231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24505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965960" y="245059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38912" y="2962656"/>
            <a:ext cx="24231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" y="296265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965960" y="29626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38912" y="3474720"/>
            <a:ext cx="24231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34747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Forms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965960" y="347472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218688" y="1298448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444752"/>
            <a:ext cx="384048" cy="38404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84048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3383280" y="1938528"/>
            <a:ext cx="24231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74720" y="19385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Web API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910328" y="193852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3383280" y="2450592"/>
            <a:ext cx="24231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474720" y="24505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4910328" y="245059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3383280" y="2962656"/>
            <a:ext cx="24231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474720" y="296265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Services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4910328" y="29626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3383280" y="3474720"/>
            <a:ext cx="24231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474720" y="34747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4910328" y="347472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6163056" y="1298448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44752"/>
            <a:ext cx="384048" cy="38404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784848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6327648" y="1938528"/>
            <a:ext cx="24231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19088" y="19385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7854696" y="193852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</a:t>
            </a:r>
            <a:endParaRPr lang="en-US" sz="750" dirty="0"/>
          </a:p>
        </p:txBody>
      </p:sp>
      <p:sp>
        <p:nvSpPr>
          <p:cNvPr id="43" name="Shape 38"/>
          <p:cNvSpPr/>
          <p:nvPr/>
        </p:nvSpPr>
        <p:spPr>
          <a:xfrm>
            <a:off x="6327648" y="2450592"/>
            <a:ext cx="24231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419088" y="24505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7854696" y="245059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6327648" y="2962656"/>
            <a:ext cx="24231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419088" y="296265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Migration</a:t>
            </a:r>
            <a:endParaRPr lang="en-US" sz="950" dirty="0"/>
          </a:p>
        </p:txBody>
      </p:sp>
      <p:sp>
        <p:nvSpPr>
          <p:cNvPr id="48" name="Text 43"/>
          <p:cNvSpPr/>
          <p:nvPr/>
        </p:nvSpPr>
        <p:spPr>
          <a:xfrm>
            <a:off x="7854696" y="29626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49" name="Shape 44"/>
          <p:cNvSpPr/>
          <p:nvPr/>
        </p:nvSpPr>
        <p:spPr>
          <a:xfrm>
            <a:off x="6327648" y="3474720"/>
            <a:ext cx="24231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419088" y="34747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7854696" y="347472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50" dirty="0"/>
          </a:p>
        </p:txBody>
      </p:sp>
      <p:sp>
        <p:nvSpPr>
          <p:cNvPr id="52" name="Shape 47"/>
          <p:cNvSpPr/>
          <p:nvPr/>
        </p:nvSpPr>
        <p:spPr>
          <a:xfrm>
            <a:off x="274320" y="425196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315968"/>
            <a:ext cx="320040" cy="320040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822960" y="42702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</a:t>
            </a:r>
            <a:endParaRPr lang="en-US" sz="1000" dirty="0"/>
          </a:p>
        </p:txBody>
      </p:sp>
      <p:sp>
        <p:nvSpPr>
          <p:cNvPr id="55" name="Text 49"/>
          <p:cNvSpPr/>
          <p:nvPr/>
        </p:nvSpPr>
        <p:spPr>
          <a:xfrm>
            <a:off x="822960" y="45902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Tokens  •  Role-Based Auth  •  CORS &amp; HTTPS</a:t>
            </a:r>
            <a:endParaRPr lang="en-US" sz="750" dirty="0"/>
          </a:p>
        </p:txBody>
      </p:sp>
      <p:sp>
        <p:nvSpPr>
          <p:cNvPr id="56" name="Shape 50"/>
          <p:cNvSpPr/>
          <p:nvPr/>
        </p:nvSpPr>
        <p:spPr>
          <a:xfrm>
            <a:off x="3218688" y="425196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4315968"/>
            <a:ext cx="320040" cy="320040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3767328" y="42702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9" name="Text 52"/>
          <p:cNvSpPr/>
          <p:nvPr/>
        </p:nvSpPr>
        <p:spPr>
          <a:xfrm>
            <a:off x="3767328" y="45902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 •  Global Exception  •  Swagger / OpenAPI</a:t>
            </a:r>
            <a:endParaRPr lang="en-US" sz="750" dirty="0"/>
          </a:p>
        </p:txBody>
      </p:sp>
      <p:sp>
        <p:nvSpPr>
          <p:cNvPr id="60" name="Shape 53"/>
          <p:cNvSpPr/>
          <p:nvPr/>
        </p:nvSpPr>
        <p:spPr>
          <a:xfrm>
            <a:off x="6163056" y="425196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4315968"/>
            <a:ext cx="320040" cy="320040"/>
          </a:xfrm>
          <a:prstGeom prst="rect">
            <a:avLst/>
          </a:prstGeom>
        </p:spPr>
      </p:pic>
      <p:sp>
        <p:nvSpPr>
          <p:cNvPr id="62" name="Text 54"/>
          <p:cNvSpPr/>
          <p:nvPr/>
        </p:nvSpPr>
        <p:spPr>
          <a:xfrm>
            <a:off x="6711696" y="42702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UI</a:t>
            </a:r>
            <a:endParaRPr lang="en-US" sz="1000" dirty="0"/>
          </a:p>
        </p:txBody>
      </p:sp>
      <p:sp>
        <p:nvSpPr>
          <p:cNvPr id="63" name="Text 55"/>
          <p:cNvSpPr/>
          <p:nvPr/>
        </p:nvSpPr>
        <p:spPr>
          <a:xfrm>
            <a:off x="6711696" y="45902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Dashboards  •  TailwindCSS  •  Glassmorphism UI</a:t>
            </a:r>
            <a:endParaRPr lang="en-US" sz="750" dirty="0"/>
          </a:p>
        </p:txBody>
      </p:sp>
      <p:sp>
        <p:nvSpPr>
          <p:cNvPr id="64" name="Text 56"/>
          <p:cNvSpPr/>
          <p:nvPr/>
        </p:nvSpPr>
        <p:spPr>
          <a:xfrm>
            <a:off x="8503920" y="48006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 SPA  →  .NET 8 REST API  →  SQL Server Database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132320" y="47548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4754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0584" y="1197864"/>
            <a:ext cx="2761488" cy="3648456"/>
          </a:xfrm>
          <a:prstGeom prst="roundRect">
            <a:avLst>
              <a:gd name="adj" fmla="val 3974"/>
            </a:avLst>
          </a:prstGeom>
          <a:solidFill>
            <a:srgbClr val="00BCD4">
              <a:alpha val="1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261872"/>
            <a:ext cx="2633472" cy="3520440"/>
          </a:xfrm>
          <a:prstGeom prst="roundRect">
            <a:avLst>
              <a:gd name="adj" fmla="val 3472"/>
            </a:avLst>
          </a:prstGeom>
          <a:solidFill>
            <a:srgbClr val="112240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73736" y="1261872"/>
            <a:ext cx="2615184" cy="4754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335024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3232" y="1298448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3232" y="153619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74320" y="1856232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1856232"/>
            <a:ext cx="36576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18562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 SPA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267712" y="185623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274320" y="2345436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2345436"/>
            <a:ext cx="36576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2345436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267712" y="234543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274320" y="2834640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" y="2834640"/>
            <a:ext cx="36576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28346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&amp; Effects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267712" y="283464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274320" y="3323844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4320" y="3323844"/>
            <a:ext cx="36576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3323844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Forms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267712" y="332384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274320" y="3813048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4320" y="3813048"/>
            <a:ext cx="36576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" y="38130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+ Glassmorphism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267712" y="381304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74320" y="4302252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74320" y="4302252"/>
            <a:ext cx="36576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430225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Dashboards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2267712" y="430225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3300984" y="1197864"/>
            <a:ext cx="2761488" cy="3648456"/>
          </a:xfrm>
          <a:prstGeom prst="roundRect">
            <a:avLst>
              <a:gd name="adj" fmla="val 3974"/>
            </a:avLst>
          </a:prstGeom>
          <a:solidFill>
            <a:srgbClr val="1E88E5">
              <a:alpha val="10000"/>
            </a:srgbClr>
          </a:solidFill>
          <a:ln w="12700">
            <a:solidFill>
              <a:srgbClr val="1E88E5">
                <a:alpha val="20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364992" y="1261872"/>
            <a:ext cx="2633472" cy="3520440"/>
          </a:xfrm>
          <a:prstGeom prst="roundRect">
            <a:avLst>
              <a:gd name="adj" fmla="val 3472"/>
            </a:avLst>
          </a:prstGeom>
          <a:solidFill>
            <a:srgbClr val="112240"/>
          </a:solidFill>
          <a:ln w="25400">
            <a:solidFill>
              <a:srgbClr val="1E88E5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4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3374136" y="1261872"/>
            <a:ext cx="2615184" cy="47548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335024"/>
            <a:ext cx="329184" cy="329184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3913632" y="1298448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3913632" y="153619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3474720" y="1856232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3474720" y="1856232"/>
            <a:ext cx="36576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566160" y="18562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5468112" y="185623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00" dirty="0"/>
          </a:p>
        </p:txBody>
      </p:sp>
      <p:sp>
        <p:nvSpPr>
          <p:cNvPr id="47" name="Shape 43"/>
          <p:cNvSpPr/>
          <p:nvPr/>
        </p:nvSpPr>
        <p:spPr>
          <a:xfrm>
            <a:off x="3474720" y="2345436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3474720" y="2345436"/>
            <a:ext cx="36576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566160" y="2345436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5468112" y="234543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700" dirty="0"/>
          </a:p>
        </p:txBody>
      </p:sp>
      <p:sp>
        <p:nvSpPr>
          <p:cNvPr id="51" name="Shape 47"/>
          <p:cNvSpPr/>
          <p:nvPr/>
        </p:nvSpPr>
        <p:spPr>
          <a:xfrm>
            <a:off x="3474720" y="2834640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474720" y="2834640"/>
            <a:ext cx="36576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566160" y="28346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5468112" y="283464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</p:txBody>
      </p:sp>
      <p:sp>
        <p:nvSpPr>
          <p:cNvPr id="55" name="Shape 51"/>
          <p:cNvSpPr/>
          <p:nvPr/>
        </p:nvSpPr>
        <p:spPr>
          <a:xfrm>
            <a:off x="3474720" y="3323844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3474720" y="3323844"/>
            <a:ext cx="36576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3566160" y="3323844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Controllers (.NET 8)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5468112" y="332384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700" dirty="0"/>
          </a:p>
        </p:txBody>
      </p:sp>
      <p:sp>
        <p:nvSpPr>
          <p:cNvPr id="59" name="Shape 55"/>
          <p:cNvSpPr/>
          <p:nvPr/>
        </p:nvSpPr>
        <p:spPr>
          <a:xfrm>
            <a:off x="3474720" y="3813048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3474720" y="3813048"/>
            <a:ext cx="36576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3566160" y="38130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Middleware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5468112" y="381304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00" dirty="0"/>
          </a:p>
        </p:txBody>
      </p:sp>
      <p:sp>
        <p:nvSpPr>
          <p:cNvPr id="63" name="Shape 59"/>
          <p:cNvSpPr/>
          <p:nvPr/>
        </p:nvSpPr>
        <p:spPr>
          <a:xfrm>
            <a:off x="3474720" y="4302252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474720" y="4302252"/>
            <a:ext cx="36576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3566160" y="430225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 Handler</a:t>
            </a:r>
            <a:endParaRPr lang="en-US" sz="900" dirty="0"/>
          </a:p>
        </p:txBody>
      </p:sp>
      <p:sp>
        <p:nvSpPr>
          <p:cNvPr id="66" name="Text 62"/>
          <p:cNvSpPr/>
          <p:nvPr/>
        </p:nvSpPr>
        <p:spPr>
          <a:xfrm>
            <a:off x="5468112" y="430225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00" dirty="0"/>
          </a:p>
        </p:txBody>
      </p:sp>
      <p:sp>
        <p:nvSpPr>
          <p:cNvPr id="67" name="Shape 63"/>
          <p:cNvSpPr/>
          <p:nvPr/>
        </p:nvSpPr>
        <p:spPr>
          <a:xfrm>
            <a:off x="6336792" y="1197864"/>
            <a:ext cx="2761488" cy="3648456"/>
          </a:xfrm>
          <a:prstGeom prst="roundRect">
            <a:avLst>
              <a:gd name="adj" fmla="val 3974"/>
            </a:avLst>
          </a:prstGeom>
          <a:solidFill>
            <a:srgbClr val="00BCD4">
              <a:alpha val="1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400800" y="1261872"/>
            <a:ext cx="2633472" cy="3520440"/>
          </a:xfrm>
          <a:prstGeom prst="roundRect">
            <a:avLst>
              <a:gd name="adj" fmla="val 3472"/>
            </a:avLst>
          </a:prstGeom>
          <a:solidFill>
            <a:srgbClr val="112240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40000"/>
              </a:srgbClr>
            </a:outerShdw>
          </a:effectLst>
        </p:spPr>
      </p:sp>
      <p:sp>
        <p:nvSpPr>
          <p:cNvPr id="69" name="Shape 65"/>
          <p:cNvSpPr/>
          <p:nvPr/>
        </p:nvSpPr>
        <p:spPr>
          <a:xfrm>
            <a:off x="6409944" y="1261872"/>
            <a:ext cx="2615184" cy="4754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7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335024"/>
            <a:ext cx="329184" cy="329184"/>
          </a:xfrm>
          <a:prstGeom prst="rect">
            <a:avLst/>
          </a:prstGeom>
        </p:spPr>
      </p:pic>
      <p:sp>
        <p:nvSpPr>
          <p:cNvPr id="71" name="Text 66"/>
          <p:cNvSpPr/>
          <p:nvPr/>
        </p:nvSpPr>
        <p:spPr>
          <a:xfrm>
            <a:off x="6949440" y="1298448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72" name="Text 67"/>
          <p:cNvSpPr/>
          <p:nvPr/>
        </p:nvSpPr>
        <p:spPr>
          <a:xfrm>
            <a:off x="6949440" y="153619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850" dirty="0"/>
          </a:p>
        </p:txBody>
      </p:sp>
      <p:sp>
        <p:nvSpPr>
          <p:cNvPr id="73" name="Shape 68"/>
          <p:cNvSpPr/>
          <p:nvPr/>
        </p:nvSpPr>
        <p:spPr>
          <a:xfrm>
            <a:off x="6510528" y="1856232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6510528" y="1856232"/>
            <a:ext cx="36576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6601968" y="18562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2022</a:t>
            </a:r>
            <a:endParaRPr lang="en-US" sz="900" dirty="0"/>
          </a:p>
        </p:txBody>
      </p:sp>
      <p:sp>
        <p:nvSpPr>
          <p:cNvPr id="76" name="Text 71"/>
          <p:cNvSpPr/>
          <p:nvPr/>
        </p:nvSpPr>
        <p:spPr>
          <a:xfrm>
            <a:off x="8503920" y="185623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6510528" y="2345436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6510528" y="2345436"/>
            <a:ext cx="36576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9" name="Text 74"/>
          <p:cNvSpPr/>
          <p:nvPr/>
        </p:nvSpPr>
        <p:spPr>
          <a:xfrm>
            <a:off x="6601968" y="2345436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900" dirty="0"/>
          </a:p>
        </p:txBody>
      </p:sp>
      <p:sp>
        <p:nvSpPr>
          <p:cNvPr id="80" name="Text 75"/>
          <p:cNvSpPr/>
          <p:nvPr/>
        </p:nvSpPr>
        <p:spPr>
          <a:xfrm>
            <a:off x="8503920" y="234543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700" dirty="0"/>
          </a:p>
        </p:txBody>
      </p:sp>
      <p:sp>
        <p:nvSpPr>
          <p:cNvPr id="81" name="Shape 76"/>
          <p:cNvSpPr/>
          <p:nvPr/>
        </p:nvSpPr>
        <p:spPr>
          <a:xfrm>
            <a:off x="6510528" y="2834640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6510528" y="2834640"/>
            <a:ext cx="36576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3" name="Text 78"/>
          <p:cNvSpPr/>
          <p:nvPr/>
        </p:nvSpPr>
        <p:spPr>
          <a:xfrm>
            <a:off x="6601968" y="28346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Entity Tables</a:t>
            </a:r>
            <a:endParaRPr lang="en-US" sz="900" dirty="0"/>
          </a:p>
        </p:txBody>
      </p:sp>
      <p:sp>
        <p:nvSpPr>
          <p:cNvPr id="84" name="Text 79"/>
          <p:cNvSpPr/>
          <p:nvPr/>
        </p:nvSpPr>
        <p:spPr>
          <a:xfrm>
            <a:off x="8503920" y="283464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700" dirty="0"/>
          </a:p>
        </p:txBody>
      </p:sp>
      <p:sp>
        <p:nvSpPr>
          <p:cNvPr id="85" name="Shape 80"/>
          <p:cNvSpPr/>
          <p:nvPr/>
        </p:nvSpPr>
        <p:spPr>
          <a:xfrm>
            <a:off x="6510528" y="3323844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6510528" y="3323844"/>
            <a:ext cx="36576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6601968" y="3323844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Migrations</a:t>
            </a:r>
            <a:endParaRPr lang="en-US" sz="900" dirty="0"/>
          </a:p>
        </p:txBody>
      </p:sp>
      <p:sp>
        <p:nvSpPr>
          <p:cNvPr id="88" name="Text 83"/>
          <p:cNvSpPr/>
          <p:nvPr/>
        </p:nvSpPr>
        <p:spPr>
          <a:xfrm>
            <a:off x="8503920" y="332384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</a:t>
            </a:r>
            <a:endParaRPr lang="en-US" sz="700" dirty="0"/>
          </a:p>
        </p:txBody>
      </p:sp>
      <p:sp>
        <p:nvSpPr>
          <p:cNvPr id="89" name="Shape 84"/>
          <p:cNvSpPr/>
          <p:nvPr/>
        </p:nvSpPr>
        <p:spPr>
          <a:xfrm>
            <a:off x="6510528" y="3813048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6510528" y="3813048"/>
            <a:ext cx="36576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6601968" y="38130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900" dirty="0"/>
          </a:p>
        </p:txBody>
      </p:sp>
      <p:sp>
        <p:nvSpPr>
          <p:cNvPr id="92" name="Text 87"/>
          <p:cNvSpPr/>
          <p:nvPr/>
        </p:nvSpPr>
        <p:spPr>
          <a:xfrm>
            <a:off x="8503920" y="381304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93" name="Shape 88"/>
          <p:cNvSpPr/>
          <p:nvPr/>
        </p:nvSpPr>
        <p:spPr>
          <a:xfrm>
            <a:off x="6510528" y="4302252"/>
            <a:ext cx="2414016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6510528" y="4302252"/>
            <a:ext cx="36576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5" name="Text 90"/>
          <p:cNvSpPr/>
          <p:nvPr/>
        </p:nvSpPr>
        <p:spPr>
          <a:xfrm>
            <a:off x="6601968" y="430225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Properties</a:t>
            </a:r>
            <a:endParaRPr lang="en-US" sz="900" dirty="0"/>
          </a:p>
        </p:txBody>
      </p:sp>
      <p:sp>
        <p:nvSpPr>
          <p:cNvPr id="96" name="Text 91"/>
          <p:cNvSpPr/>
          <p:nvPr/>
        </p:nvSpPr>
        <p:spPr>
          <a:xfrm>
            <a:off x="8503920" y="430225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700" dirty="0"/>
          </a:p>
        </p:txBody>
      </p:sp>
      <p:sp>
        <p:nvSpPr>
          <p:cNvPr id="97" name="Shape 92"/>
          <p:cNvSpPr/>
          <p:nvPr/>
        </p:nvSpPr>
        <p:spPr>
          <a:xfrm>
            <a:off x="2834640" y="3022092"/>
            <a:ext cx="475488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3273552" y="2939796"/>
            <a:ext cx="82296" cy="2011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9" name="Text 94"/>
          <p:cNvSpPr/>
          <p:nvPr/>
        </p:nvSpPr>
        <p:spPr>
          <a:xfrm>
            <a:off x="2807208" y="27020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</a:t>
            </a:r>
            <a:endParaRPr lang="en-US" sz="800" dirty="0"/>
          </a:p>
        </p:txBody>
      </p:sp>
      <p:sp>
        <p:nvSpPr>
          <p:cNvPr id="100" name="Text 95"/>
          <p:cNvSpPr/>
          <p:nvPr/>
        </p:nvSpPr>
        <p:spPr>
          <a:xfrm>
            <a:off x="2807208" y="311353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</a:t>
            </a:r>
            <a:endParaRPr lang="en-US" sz="750" dirty="0"/>
          </a:p>
        </p:txBody>
      </p:sp>
      <p:sp>
        <p:nvSpPr>
          <p:cNvPr id="101" name="Shape 96"/>
          <p:cNvSpPr/>
          <p:nvPr/>
        </p:nvSpPr>
        <p:spPr>
          <a:xfrm>
            <a:off x="6035040" y="3022092"/>
            <a:ext cx="420624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6419088" y="2939796"/>
            <a:ext cx="82296" cy="2011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3" name="Text 98"/>
          <p:cNvSpPr/>
          <p:nvPr/>
        </p:nvSpPr>
        <p:spPr>
          <a:xfrm>
            <a:off x="6007608" y="270205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</a:t>
            </a:r>
            <a:endParaRPr lang="en-US" sz="800" dirty="0"/>
          </a:p>
        </p:txBody>
      </p:sp>
      <p:sp>
        <p:nvSpPr>
          <p:cNvPr id="104" name="Text 99"/>
          <p:cNvSpPr/>
          <p:nvPr/>
        </p:nvSpPr>
        <p:spPr>
          <a:xfrm>
            <a:off x="6007608" y="311353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</a:t>
            </a:r>
            <a:endParaRPr lang="en-US" sz="750" dirty="0"/>
          </a:p>
        </p:txBody>
      </p:sp>
      <p:sp>
        <p:nvSpPr>
          <p:cNvPr id="105" name="Shape 100"/>
          <p:cNvSpPr/>
          <p:nvPr/>
        </p:nvSpPr>
        <p:spPr>
          <a:xfrm>
            <a:off x="164592" y="4873752"/>
            <a:ext cx="8814816" cy="237744"/>
          </a:xfrm>
          <a:prstGeom prst="roundRect">
            <a:avLst>
              <a:gd name="adj" fmla="val 15385"/>
            </a:avLst>
          </a:prstGeom>
          <a:solidFill>
            <a:srgbClr val="11224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6" name="Text 101"/>
          <p:cNvSpPr/>
          <p:nvPr/>
        </p:nvSpPr>
        <p:spPr>
          <a:xfrm>
            <a:off x="164592" y="4873752"/>
            <a:ext cx="8814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CD4"/>
                </a:solidFill>
              </a:rPr>
              <a:t>🔐  JWT Token Auth + Role-Based Access Control (RBAC) secures every layer end-to-end</a:t>
            </a:r>
            <a:endParaRPr lang="en-US" sz="850" dirty="0"/>
          </a:p>
        </p:txBody>
      </p:sp>
      <p:sp>
        <p:nvSpPr>
          <p:cNvPr id="107" name="Text 102"/>
          <p:cNvSpPr/>
          <p:nvPr/>
        </p:nvSpPr>
        <p:spPr>
          <a:xfrm>
            <a:off x="8503920" y="48006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– Every Stakeholder Has a Purpose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User Roles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56032" y="1280160"/>
            <a:ext cx="2029968" cy="3611880"/>
          </a:xfrm>
          <a:prstGeom prst="roundRect">
            <a:avLst>
              <a:gd name="adj" fmla="val 3604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5176" y="1280160"/>
            <a:ext cx="2020824" cy="5303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3502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28016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84048" y="1911096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1911096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&amp; Agents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84048" y="2478024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2478024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Type Management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84048" y="3044952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3044952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Pricing Control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84048" y="3611880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361188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84048" y="4178808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4178808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468880" y="1280160"/>
            <a:ext cx="2029968" cy="3611880"/>
          </a:xfrm>
          <a:prstGeom prst="roundRect">
            <a:avLst>
              <a:gd name="adj" fmla="val 3604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478024" y="1280160"/>
            <a:ext cx="2020824" cy="5303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335024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990088" y="128016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2596896" y="1911096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596896" y="1911096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Quote &amp; Buy Policy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2596896" y="2478024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596896" y="2478024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Track Claims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2596896" y="3044952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596896" y="3044952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Invoices &amp; Pay EMI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2596896" y="3611880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596896" y="361188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Business Profile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2596896" y="4178808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596896" y="4178808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Notifications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681728" y="1280160"/>
            <a:ext cx="2029968" cy="3611880"/>
          </a:xfrm>
          <a:prstGeom prst="roundRect">
            <a:avLst>
              <a:gd name="adj" fmla="val 3604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690872" y="1280160"/>
            <a:ext cx="2020824" cy="5303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335024"/>
            <a:ext cx="347472" cy="34747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202936" y="128016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4809744" y="1911096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809744" y="1911096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Dashboard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4809744" y="2478024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4809744" y="2478024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Policies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4809744" y="3044952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809744" y="3044952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Pending Policies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4809744" y="3611880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809744" y="361188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Commission Earnings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4809744" y="4178808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809744" y="4178808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Policy History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6894576" y="1280160"/>
            <a:ext cx="2029968" cy="3611880"/>
          </a:xfrm>
          <a:prstGeom prst="roundRect">
            <a:avLst>
              <a:gd name="adj" fmla="val 3604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6903720" y="1280160"/>
            <a:ext cx="2020824" cy="5303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1335024"/>
            <a:ext cx="347472" cy="347472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7415784" y="128016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Officer</a:t>
            </a:r>
            <a:endParaRPr lang="en-US" sz="1200" dirty="0"/>
          </a:p>
        </p:txBody>
      </p:sp>
      <p:sp>
        <p:nvSpPr>
          <p:cNvPr id="51" name="Shape 45"/>
          <p:cNvSpPr/>
          <p:nvPr/>
        </p:nvSpPr>
        <p:spPr>
          <a:xfrm>
            <a:off x="7022592" y="1911096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7022592" y="1911096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Queue Dashboard</a:t>
            </a:r>
            <a:endParaRPr lang="en-US" sz="850" dirty="0"/>
          </a:p>
        </p:txBody>
      </p:sp>
      <p:sp>
        <p:nvSpPr>
          <p:cNvPr id="53" name="Shape 47"/>
          <p:cNvSpPr/>
          <p:nvPr/>
        </p:nvSpPr>
        <p:spPr>
          <a:xfrm>
            <a:off x="7022592" y="2478024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7022592" y="2478024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Claim Documents</a:t>
            </a:r>
            <a:endParaRPr lang="en-US" sz="850" dirty="0"/>
          </a:p>
        </p:txBody>
      </p:sp>
      <p:sp>
        <p:nvSpPr>
          <p:cNvPr id="55" name="Shape 49"/>
          <p:cNvSpPr/>
          <p:nvPr/>
        </p:nvSpPr>
        <p:spPr>
          <a:xfrm>
            <a:off x="7022592" y="3044952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7022592" y="3044952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/ Settle</a:t>
            </a:r>
            <a:endParaRPr lang="en-US" sz="850" dirty="0"/>
          </a:p>
        </p:txBody>
      </p:sp>
      <p:sp>
        <p:nvSpPr>
          <p:cNvPr id="57" name="Shape 51"/>
          <p:cNvSpPr/>
          <p:nvPr/>
        </p:nvSpPr>
        <p:spPr>
          <a:xfrm>
            <a:off x="7022592" y="3611880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7022592" y="361188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</a:t>
            </a:r>
            <a:endParaRPr lang="en-US" sz="850" dirty="0"/>
          </a:p>
        </p:txBody>
      </p:sp>
      <p:sp>
        <p:nvSpPr>
          <p:cNvPr id="59" name="Shape 53"/>
          <p:cNvSpPr/>
          <p:nvPr/>
        </p:nvSpPr>
        <p:spPr>
          <a:xfrm>
            <a:off x="7022592" y="4178808"/>
            <a:ext cx="1773936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7022592" y="4178808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Reports</a:t>
            </a:r>
            <a:endParaRPr lang="en-US" sz="850" dirty="0"/>
          </a:p>
        </p:txBody>
      </p:sp>
      <p:sp>
        <p:nvSpPr>
          <p:cNvPr id="61" name="Text 55"/>
          <p:cNvSpPr/>
          <p:nvPr/>
        </p:nvSpPr>
        <p:spPr>
          <a:xfrm>
            <a:off x="8503920" y="48006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Self-Service Portal for Business Owners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Module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766560" y="47548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475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48132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4630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Quote Engine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0624" y="1965960"/>
            <a:ext cx="2487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business details, get instant risk-scored quotes with premium breakdown.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0" y="129844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48132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58768" y="14630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Manage Policies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64992" y="1965960"/>
            <a:ext cx="2487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plans, compare coverage, purchase policies, and download documents.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144768" y="129844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8132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03136" y="14630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Track Claims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09360" y="1965960"/>
            <a:ext cx="2487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claims with documents, track real-time status from filing to settlement.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256032" y="317296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335584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333756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EMI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20624" y="3840480"/>
            <a:ext cx="2487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invoices, convert premiums to EMI installments, track payment history.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3200400" y="317296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355848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858768" y="333756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3364992" y="3840480"/>
            <a:ext cx="2487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 for policy status, claim updates, and payment due dates.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6144768" y="317296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355848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803136" y="333756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Dashboard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6309360" y="3840480"/>
            <a:ext cx="2487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blue-themed dashboard with quick stats and action shortcuts.</a:t>
            </a:r>
            <a:endParaRPr lang="en-US" sz="850" dirty="0"/>
          </a:p>
        </p:txBody>
      </p:sp>
      <p:sp>
        <p:nvSpPr>
          <p:cNvPr id="31" name="Text 23"/>
          <p:cNvSpPr/>
          <p:nvPr/>
        </p:nvSpPr>
        <p:spPr>
          <a:xfrm>
            <a:off x="8503920" y="48006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– Analytics, Users, Plans &amp; System Management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766560" y="47548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475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Panel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89888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325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1618488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line chart, policy doughnut, claims bar chart, agent KPI tracking.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56032" y="2231136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2257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22585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22960" y="2551176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activate, deactivate users and agents. Role assignments &amp; permissions.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56032" y="3163824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5526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31912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Type &amp; Plans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22960" y="3483864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insurance products, coverage tiers, premium bands, and validity rules.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256032" y="4096512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18795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4123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Oversight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822960" y="4416552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all policies, claims, commissions, and platform-wide notifications.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663440" y="1298448"/>
            <a:ext cx="4206240" cy="3621024"/>
          </a:xfrm>
          <a:prstGeom prst="roundRect">
            <a:avLst>
              <a:gd name="adj" fmla="val 2020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4800600" y="13716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Visualizations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800600" y="1783080"/>
            <a:ext cx="393192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800600" y="1783080"/>
            <a:ext cx="45720" cy="6217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919472" y="17830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Revenue Line Chart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800600" y="2532888"/>
            <a:ext cx="393192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800600" y="2532888"/>
            <a:ext cx="45720" cy="6217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919472" y="253288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🍩  Policy Type Doughnut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800600" y="3282696"/>
            <a:ext cx="393192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800600" y="3282696"/>
            <a:ext cx="45720" cy="6217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919472" y="328269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Claims Status Bar Chart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4800600" y="4032504"/>
            <a:ext cx="393192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800600" y="4032504"/>
            <a:ext cx="45720" cy="6217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919472" y="403250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Agent Performance Radar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8503920" y="48006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Tracking, Policy Oversight &amp; Client Management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Module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0" y="47548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4754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Portal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4224528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9961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4630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Dashboard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41832" y="1865376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earnings tracker with monthly trend charts, payout status and commission history.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00016" y="1298448"/>
            <a:ext cx="4224528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149961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85816" y="14630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Management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385816" y="1865376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assigned policies, filter by status Active/Pending/Expired, monitor lifecycle stages.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56032" y="3172968"/>
            <a:ext cx="4224528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37413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1832" y="33375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Pending Policies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41832" y="3739896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customer policy submissions, verify business details, approve or flag for review.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700016" y="3172968"/>
            <a:ext cx="4224528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337413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85816" y="33375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Tracking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385816" y="3739896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Per-policy commission breakdown with rates, earned amounts, and settlement date tracking.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256032" y="4892040"/>
            <a:ext cx="8631936" cy="256032"/>
          </a:xfrm>
          <a:prstGeom prst="roundRect">
            <a:avLst>
              <a:gd name="adj" fmla="val 14286"/>
            </a:avLst>
          </a:prstGeom>
          <a:solidFill>
            <a:srgbClr val="11224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56032" y="489204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CD4"/>
                </a:solidFill>
              </a:rPr>
              <a:t>Commission = Policy Premium × Commission Rate (%)  |  Auto-calculated on policy approval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503920" y="48006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Lifecycle Management – From Queue to Settlement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Officer Module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766560" y="47548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475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Management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84048" y="1298448"/>
            <a:ext cx="777240" cy="7772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98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9456" y="214884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Queue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179576" y="1655064"/>
            <a:ext cx="896112" cy="2743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4832" y="1298448"/>
            <a:ext cx="777240" cy="77724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1298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20240" y="214884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Review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80360" y="1655064"/>
            <a:ext cx="896112" cy="2743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85616" y="1298448"/>
            <a:ext cx="777240" cy="7772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1298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21024" y="214884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81144" y="1655064"/>
            <a:ext cx="896112" cy="2743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1298448"/>
            <a:ext cx="777240" cy="77724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298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21808" y="214884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81928" y="1655064"/>
            <a:ext cx="896112" cy="2743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87184" y="1298448"/>
            <a:ext cx="777240" cy="7772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87184" y="1298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22592" y="214884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" y="2560320"/>
            <a:ext cx="4224528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706624"/>
            <a:ext cx="347472" cy="34747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96112" y="2670048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Queue Dashboard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96112" y="3017520"/>
            <a:ext cx="3493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submitted claims in prioritized queue with filtering by status, date, and type.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700016" y="2560320"/>
            <a:ext cx="4224528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706624"/>
            <a:ext cx="347472" cy="34747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340096" y="2670048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5340096" y="3017520"/>
            <a:ext cx="3493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uploaded supporting documents, verify authenticity and completeness.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256032" y="3730752"/>
            <a:ext cx="4224528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877056"/>
            <a:ext cx="347472" cy="34747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96112" y="384048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/ Settle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896112" y="4187952"/>
            <a:ext cx="3493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claim decisions with mandatory remarks, auto-notification to customer.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4700016" y="3730752"/>
            <a:ext cx="4224528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3877056"/>
            <a:ext cx="347472" cy="34747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340096" y="384048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Reports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5340096" y="4187952"/>
            <a:ext cx="3493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resolution metrics, average processing time, and settlement amount tracking.</a:t>
            </a:r>
            <a:endParaRPr lang="en-US" sz="850" dirty="0"/>
          </a:p>
        </p:txBody>
      </p:sp>
      <p:sp>
        <p:nvSpPr>
          <p:cNvPr id="42" name="Text 36"/>
          <p:cNvSpPr/>
          <p:nvPr/>
        </p:nvSpPr>
        <p:spPr>
          <a:xfrm>
            <a:off x="8503920" y="48006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Premium Calculation Based on Business Risk Profile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Engine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56032" y="1298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Factors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664208"/>
            <a:ext cx="2926080" cy="493776"/>
          </a:xfrm>
          <a:prstGeom prst="roundRect">
            <a:avLst>
              <a:gd name="adj" fmla="val 1481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55648"/>
            <a:ext cx="274320" cy="2743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2240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66420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Operation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2249424"/>
            <a:ext cx="2926080" cy="493776"/>
          </a:xfrm>
          <a:prstGeom prst="roundRect">
            <a:avLst>
              <a:gd name="adj" fmla="val 1481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40864"/>
            <a:ext cx="274320" cy="2743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2240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9808" y="224942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Count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834640"/>
            <a:ext cx="2926080" cy="493776"/>
          </a:xfrm>
          <a:prstGeom prst="roundRect">
            <a:avLst>
              <a:gd name="adj" fmla="val 1481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274320" cy="2743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2240"/>
                </a:solidFill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9808" y="283464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Certification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419856"/>
            <a:ext cx="2926080" cy="493776"/>
          </a:xfrm>
          <a:prstGeom prst="roundRect">
            <a:avLst>
              <a:gd name="adj" fmla="val 1481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11296"/>
            <a:ext cx="274320" cy="2743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2240"/>
                </a:solidFill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9808" y="341985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4005072"/>
            <a:ext cx="2926080" cy="493776"/>
          </a:xfrm>
          <a:prstGeom prst="roundRect">
            <a:avLst>
              <a:gd name="adj" fmla="val 1481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96512"/>
            <a:ext cx="274320" cy="2743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2240"/>
                </a:solidFill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9808" y="4005072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Type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2798064"/>
            <a:ext cx="5029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2112" y="2606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CD4"/>
                </a:solidFill>
              </a:rPr>
              <a:t>Score →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840480" y="1298448"/>
            <a:ext cx="5047488" cy="1572768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977640" y="1371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Algorithm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977640" y="1691640"/>
            <a:ext cx="4754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(yearsInOp × 0.2) + (empCount × 0.15) + (safetyCert × 0.25)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(revenue × 0.2) + (industryRisk × 0.2)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 to 0–100 scale → Tier classification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2999232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Tiers &amp; Multipliers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0" y="3337560"/>
            <a:ext cx="1170432" cy="1536192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849624" y="3337560"/>
            <a:ext cx="1161288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33375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Low Risk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840480" y="3675888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0–25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840480" y="4133088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0.75×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840480" y="464515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102352" y="3337560"/>
            <a:ext cx="1170432" cy="1536192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111496" y="3337560"/>
            <a:ext cx="1161288" cy="2926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02352" y="33375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 Risk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102352" y="3675888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8E5"/>
                </a:solidFill>
              </a:rPr>
              <a:t>26–50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102352" y="4133088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1.00×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102352" y="464515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364224" y="3337560"/>
            <a:ext cx="1170432" cy="1536192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373368" y="3337560"/>
            <a:ext cx="1161288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4224" y="33375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 Risk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364224" y="3675888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51–75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364224" y="4133088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1.40×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364224" y="464515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626096" y="3337560"/>
            <a:ext cx="1170432" cy="1536192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635240" y="3337560"/>
            <a:ext cx="1161288" cy="2926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26096" y="33375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Very High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626096" y="3675888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8E5"/>
                </a:solidFill>
              </a:rPr>
              <a:t>76–100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626096" y="4133088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1.85×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7626096" y="464515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56032" y="4892040"/>
            <a:ext cx="8631936" cy="256032"/>
          </a:xfrm>
          <a:prstGeom prst="roundRect">
            <a:avLst>
              <a:gd name="adj" fmla="val 14286"/>
            </a:avLst>
          </a:prstGeom>
          <a:solidFill>
            <a:srgbClr val="11224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" y="489204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CD4"/>
                </a:solidFill>
              </a:rPr>
              <a:t>Final Premium = Base Premium × Risk Multiplier  |  Calculated real-time on Quote page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503920" y="48006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CIPMS Stand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2029968" cy="1664208"/>
          </a:xfrm>
          <a:prstGeom prst="roundRect">
            <a:avLst>
              <a:gd name="adj" fmla="val 4396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081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847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225856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alerts for policy changes, claim status, payment reminders.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432304" y="1298448"/>
            <a:ext cx="2029968" cy="1664208"/>
          </a:xfrm>
          <a:prstGeom prst="roundRect">
            <a:avLst>
              <a:gd name="adj" fmla="val 4396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24" y="140817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42032" y="1847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Billing + EMI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2542032" y="225856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premium payment: full or installment-based EMI plans.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608576" y="1298448"/>
            <a:ext cx="2029968" cy="1664208"/>
          </a:xfrm>
          <a:prstGeom prst="roundRect">
            <a:avLst>
              <a:gd name="adj" fmla="val 4396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140817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18304" y="1847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Comparison Tool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4718304" y="225856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plan comparison with coverage highlights and pricing.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6784848" y="1298448"/>
            <a:ext cx="2029968" cy="1664208"/>
          </a:xfrm>
          <a:prstGeom prst="roundRect">
            <a:avLst>
              <a:gd name="adj" fmla="val 4396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140817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94576" y="1847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6894576" y="225856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type gets a personalized, color-themed experience.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256032" y="3127248"/>
            <a:ext cx="2029968" cy="1664208"/>
          </a:xfrm>
          <a:prstGeom prst="roundRect">
            <a:avLst>
              <a:gd name="adj" fmla="val 4396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23697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65760" y="36758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Notifications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365760" y="408736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in-app alerts for policy updates, claims, and payments.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2432304" y="3127248"/>
            <a:ext cx="2029968" cy="1664208"/>
          </a:xfrm>
          <a:prstGeom prst="roundRect">
            <a:avLst>
              <a:gd name="adj" fmla="val 4396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6624" y="323697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542032" y="36758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Profile Mgmt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2542032" y="408736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maintain business details used for risk calculation.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4608576" y="3127248"/>
            <a:ext cx="2029968" cy="1664208"/>
          </a:xfrm>
          <a:prstGeom prst="roundRect">
            <a:avLst>
              <a:gd name="adj" fmla="val 4396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896" y="3236976"/>
            <a:ext cx="384048" cy="3840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718304" y="36758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950" dirty="0"/>
          </a:p>
        </p:txBody>
      </p:sp>
      <p:sp>
        <p:nvSpPr>
          <p:cNvPr id="32" name="Text 23"/>
          <p:cNvSpPr/>
          <p:nvPr/>
        </p:nvSpPr>
        <p:spPr>
          <a:xfrm>
            <a:off x="4718304" y="408736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gets full business intelligence across all modules.</a:t>
            </a:r>
            <a:endParaRPr lang="en-US" sz="800" dirty="0"/>
          </a:p>
        </p:txBody>
      </p:sp>
      <p:sp>
        <p:nvSpPr>
          <p:cNvPr id="33" name="Shape 24"/>
          <p:cNvSpPr/>
          <p:nvPr/>
        </p:nvSpPr>
        <p:spPr>
          <a:xfrm>
            <a:off x="6784848" y="3127248"/>
            <a:ext cx="2029968" cy="1664208"/>
          </a:xfrm>
          <a:prstGeom prst="roundRect">
            <a:avLst>
              <a:gd name="adj" fmla="val 4396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9168" y="3236976"/>
            <a:ext cx="384048" cy="38404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894576" y="36758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REST API</a:t>
            </a:r>
            <a:endParaRPr lang="en-US" sz="950" dirty="0"/>
          </a:p>
        </p:txBody>
      </p:sp>
      <p:sp>
        <p:nvSpPr>
          <p:cNvPr id="36" name="Text 26"/>
          <p:cNvSpPr/>
          <p:nvPr/>
        </p:nvSpPr>
        <p:spPr>
          <a:xfrm>
            <a:off x="6894576" y="408736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Well-organized API controllers: Auth, Policies, Claims, Billing, etc.</a:t>
            </a:r>
            <a:endParaRPr lang="en-US" sz="800" dirty="0"/>
          </a:p>
        </p:txBody>
      </p:sp>
      <p:sp>
        <p:nvSpPr>
          <p:cNvPr id="37" name="Text 27"/>
          <p:cNvSpPr/>
          <p:nvPr/>
        </p:nvSpPr>
        <p:spPr>
          <a:xfrm>
            <a:off x="8503920" y="48006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Entity Relationship Diagram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949440" y="47548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4754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+ EF Core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2029968" cy="1078992"/>
          </a:xfrm>
          <a:prstGeom prst="roundRect">
            <a:avLst>
              <a:gd name="adj" fmla="val 6780"/>
            </a:avLst>
          </a:prstGeom>
          <a:solidFill>
            <a:srgbClr val="112240"/>
          </a:solidFill>
          <a:ln w="2286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5176" y="1307592"/>
            <a:ext cx="54864" cy="106070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96112" y="14630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19385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50592" y="1298448"/>
            <a:ext cx="2029968" cy="1078992"/>
          </a:xfrm>
          <a:prstGeom prst="roundRect">
            <a:avLst>
              <a:gd name="adj" fmla="val 6780"/>
            </a:avLst>
          </a:prstGeom>
          <a:solidFill>
            <a:srgbClr val="112240"/>
          </a:solidFill>
          <a:ln w="2286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9736" y="1307592"/>
            <a:ext cx="54864" cy="106070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6896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090672" y="14630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BusinessProfile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90672" y="19385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45152" y="1298448"/>
            <a:ext cx="2029968" cy="1078992"/>
          </a:xfrm>
          <a:prstGeom prst="roundRect">
            <a:avLst>
              <a:gd name="adj" fmla="val 6780"/>
            </a:avLst>
          </a:prstGeom>
          <a:solidFill>
            <a:srgbClr val="112240"/>
          </a:solidFill>
          <a:ln w="2286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54296" y="1307592"/>
            <a:ext cx="54864" cy="106070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85232" y="14630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InsuranceType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85232" y="19385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39712" y="1298448"/>
            <a:ext cx="2029968" cy="1078992"/>
          </a:xfrm>
          <a:prstGeom prst="roundRect">
            <a:avLst>
              <a:gd name="adj" fmla="val 6780"/>
            </a:avLst>
          </a:prstGeom>
          <a:solidFill>
            <a:srgbClr val="112240"/>
          </a:solidFill>
          <a:ln w="2286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48856" y="1307592"/>
            <a:ext cx="54864" cy="106070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6016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79792" y="14630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79792" y="19385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2523744"/>
            <a:ext cx="2029968" cy="1078992"/>
          </a:xfrm>
          <a:prstGeom prst="roundRect">
            <a:avLst>
              <a:gd name="adj" fmla="val 6780"/>
            </a:avLst>
          </a:prstGeom>
          <a:solidFill>
            <a:srgbClr val="112240"/>
          </a:solidFill>
          <a:ln w="2286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65176" y="2532888"/>
            <a:ext cx="54864" cy="106070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96112" y="268833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96112" y="316382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50592" y="2523744"/>
            <a:ext cx="2029968" cy="1078992"/>
          </a:xfrm>
          <a:prstGeom prst="roundRect">
            <a:avLst>
              <a:gd name="adj" fmla="val 6780"/>
            </a:avLst>
          </a:prstGeom>
          <a:solidFill>
            <a:srgbClr val="112240"/>
          </a:solidFill>
          <a:ln w="2286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459736" y="2532888"/>
            <a:ext cx="54864" cy="106070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96896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090672" y="268833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90672" y="316382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45152" y="2523744"/>
            <a:ext cx="2029968" cy="1078992"/>
          </a:xfrm>
          <a:prstGeom prst="roundRect">
            <a:avLst>
              <a:gd name="adj" fmla="val 6780"/>
            </a:avLst>
          </a:prstGeom>
          <a:solidFill>
            <a:srgbClr val="112240"/>
          </a:solidFill>
          <a:ln w="2286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54296" y="2532888"/>
            <a:ext cx="54864" cy="106070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91456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🧾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285232" y="268833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85232" y="316382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839712" y="2523744"/>
            <a:ext cx="2029968" cy="1078992"/>
          </a:xfrm>
          <a:prstGeom prst="roundRect">
            <a:avLst>
              <a:gd name="adj" fmla="val 6780"/>
            </a:avLst>
          </a:prstGeom>
          <a:solidFill>
            <a:srgbClr val="112240"/>
          </a:solidFill>
          <a:ln w="2286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48856" y="2532888"/>
            <a:ext cx="54864" cy="106070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86016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479792" y="268833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79792" y="316382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56032" y="3749040"/>
            <a:ext cx="2029968" cy="1078992"/>
          </a:xfrm>
          <a:prstGeom prst="roundRect">
            <a:avLst>
              <a:gd name="adj" fmla="val 6780"/>
            </a:avLst>
          </a:prstGeom>
          <a:solidFill>
            <a:srgbClr val="112240"/>
          </a:solidFill>
          <a:ln w="2286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65176" y="3758184"/>
            <a:ext cx="54864" cy="106070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896112" y="391363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96112" y="4389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450592" y="3749040"/>
            <a:ext cx="2029968" cy="1078992"/>
          </a:xfrm>
          <a:prstGeom prst="roundRect">
            <a:avLst>
              <a:gd name="adj" fmla="val 6780"/>
            </a:avLst>
          </a:prstGeom>
          <a:solidFill>
            <a:srgbClr val="112240"/>
          </a:solidFill>
          <a:ln w="2286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459736" y="3758184"/>
            <a:ext cx="54864" cy="106070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96896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📎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3090672" y="391363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ClaimDocument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090672" y="4389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45152" y="3749040"/>
            <a:ext cx="2029968" cy="1078992"/>
          </a:xfrm>
          <a:prstGeom prst="roundRect">
            <a:avLst>
              <a:gd name="adj" fmla="val 6780"/>
            </a:avLst>
          </a:prstGeom>
          <a:solidFill>
            <a:srgbClr val="112240"/>
          </a:solidFill>
          <a:ln w="2286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654296" y="3758184"/>
            <a:ext cx="54864" cy="106070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91456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5285232" y="391363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285232" y="4389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839712" y="3749040"/>
            <a:ext cx="2029968" cy="1078992"/>
          </a:xfrm>
          <a:prstGeom prst="roundRect">
            <a:avLst>
              <a:gd name="adj" fmla="val 6780"/>
            </a:avLst>
          </a:prstGeom>
          <a:solidFill>
            <a:srgbClr val="112240"/>
          </a:solidFill>
          <a:ln w="2286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848856" y="3758184"/>
            <a:ext cx="54864" cy="106070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86016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7479792" y="391363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479792" y="4389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56032" y="4892040"/>
            <a:ext cx="8631936" cy="256032"/>
          </a:xfrm>
          <a:prstGeom prst="roundRect">
            <a:avLst>
              <a:gd name="adj" fmla="val 14286"/>
            </a:avLst>
          </a:prstGeom>
          <a:solidFill>
            <a:srgbClr val="11224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6032" y="489204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CD4"/>
                </a:solidFill>
              </a:rPr>
              <a:t>12 Entities  |  Code-First Migrations  |  Full Navigation Properties  |  Enum: PolicyStatus · ClaimStatus · UserRole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503920" y="48006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Security for Enterprise-Grade Protection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996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1463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38912" y="196596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token-based auth with expiry, refresh mechanism, and signature verification.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0" y="129844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49961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1463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Authorization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83280" y="196596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route guards + .NET policy-based authorization for every API endpoint.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144768" y="129844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9961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30568" y="1463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Enforcement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27648" y="196596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communication over TLS. HSTS headers and secure cookie policy enforced.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256032" y="317296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37413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41832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38912" y="384048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Data Annotations + FluentValidation on all request DTOs.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3200400" y="317296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37413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86200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Middleware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3383280" y="384048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error handling middleware with structured logging and safe error responses.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6144768" y="317296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37413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30568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Logging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6327648" y="384048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Serilog-based structured request/response logging with correlation IDs.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8503920" y="48006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Next-Generation Capabilities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76272" y="1389888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76272" y="138988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</a:rPr>
              <a:t>Phase 2</a:t>
            </a:r>
            <a:endParaRPr lang="en-US" sz="6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9961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4630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Fraud Detection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38912" y="196596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to flag suspicious claim patterns and auto-score fraud probability.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0" y="129844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0" y="1389888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138988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</a:rPr>
              <a:t>Phase 2</a:t>
            </a:r>
            <a:endParaRPr lang="en-US" sz="6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49961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58768" y="14630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(Flutter)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383280" y="196596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iOS &amp; Android companion app for customers and agents.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144768" y="129844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65008" y="1389888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065008" y="138988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</a:rPr>
              <a:t>Phase 2</a:t>
            </a:r>
            <a:endParaRPr lang="en-US" sz="6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99616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03136" y="14630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327648" y="196596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/ Stripe integration for real-time premium payments and EMI.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256032" y="317296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176272" y="3264408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176272" y="32644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</a:rPr>
              <a:t>Phase 3</a:t>
            </a:r>
            <a:endParaRPr lang="en-US" sz="6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374136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4400" y="333756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OCR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38912" y="384048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 data from uploaded claim documents using Azure OCR / Tesseract.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3200400" y="317296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120640" y="3264408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120640" y="32644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</a:rPr>
              <a:t>Phase 3</a:t>
            </a:r>
            <a:endParaRPr lang="en-US" sz="6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374136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58768" y="333756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3383280" y="384048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for Hindi, Tamil, Telugu, and other regional language support.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6144768" y="3172968"/>
            <a:ext cx="2788920" cy="171907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065008" y="3264408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8065008" y="32644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</a:rPr>
              <a:t>Phase 3</a:t>
            </a:r>
            <a:endParaRPr lang="en-US" sz="65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374136"/>
            <a:ext cx="384048" cy="38404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03136" y="333756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6327648" y="384048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trend analysis, churn prediction, and premium optimization using ML.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8503920" y="48006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6642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CIPMS — Commercial Insurance Policy Management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2103120"/>
            <a:ext cx="27432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128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Hartford</a:t>
            </a:r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For providing this opportunity and supporting learning &amp; innovation.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&amp; the entire team</a:t>
            </a:r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For organizing and guiding this program.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Thammiraju</a:t>
            </a:r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Head &amp; MD India – The Hartford, for leadership and encouragement.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2788920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Ranjan Bhatnagar</a:t>
            </a:r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Microsoft Certified Instructor (30+ years) – for valuable knowledge &amp; insights.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3474720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Koti Rama Murthy Davuluri</a:t>
            </a:r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Sr. Staff Software Engineer – The Hartford, for technical guidance.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P. Uma Maheswar Reddy  |  March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0" y="48006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CIPMS – Comprehensive Insurance Policy Management System</dc:title>
  <dc:subject>PptxGenJS Presentation</dc:subject>
  <dc:creator>PptxGenJS</dc:creator>
  <cp:lastModifiedBy>PptxGenJS</cp:lastModifiedBy>
  <cp:revision>1</cp:revision>
  <dcterms:created xsi:type="dcterms:W3CDTF">2026-03-11T11:52:44Z</dcterms:created>
  <dcterms:modified xsi:type="dcterms:W3CDTF">2026-03-11T11:52:44Z</dcterms:modified>
</cp:coreProperties>
</file>