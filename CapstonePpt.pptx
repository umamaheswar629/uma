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52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100584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6B6D4">
              <a:alpha val="15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CIPMS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</a:t>
            </a: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Management System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Enterprise Web Application for End-to-End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Operations &amp; Workflow Automation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</a:t>
            </a:r>
            <a:r>
              <a:rPr lang="en-US" sz="800" b="1" kern="0" spc="200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44368" y="4343400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434340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</a:t>
            </a:r>
            <a:r>
              <a:rPr lang="en-US" sz="800" b="1" kern="0" spc="200" dirty="0" smtClean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50208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48656" y="4343400"/>
            <a:ext cx="1682496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43434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 vs. Digital Transformation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Workflows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24128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Disconnected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3055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Paper-Heavy: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physical documents leads to slow processing and lost data.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670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Rate: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in policy issuance, premium calculations, and claims data entry.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64408"/>
            <a:ext cx="146304" cy="1463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2369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for Agents, Claims Officers, and Customers causing communication gaps.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31336"/>
            <a:ext cx="146304" cy="14630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8039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between quote generation, billing/EMI, and claims settlement.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2788920"/>
            <a:ext cx="320040" cy="32004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84632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508760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413248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CIPMS Platform</a:t>
            </a:r>
            <a:endParaRPr lang="en-US" sz="1500" dirty="0"/>
          </a:p>
        </p:txBody>
      </p:sp>
      <p:sp>
        <p:nvSpPr>
          <p:cNvPr id="20" name="Text 11"/>
          <p:cNvSpPr/>
          <p:nvPr/>
        </p:nvSpPr>
        <p:spPr>
          <a:xfrm>
            <a:off x="5413248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&amp; Automated</a:t>
            </a:r>
            <a:endParaRPr lang="en-US" sz="9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130552"/>
            <a:ext cx="146304" cy="14630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57800" y="2103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Ecosystem: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web application connecting Admin, Agents, Customers, and Officers.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697480"/>
            <a:ext cx="146304" cy="14630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57800" y="2670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lifecycle from Quote → Policy → Claims.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264408"/>
            <a:ext cx="146304" cy="14630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57800" y="32369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personalized dashboards for every stakeholder type.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831336"/>
            <a:ext cx="146304" cy="146304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257800" y="38039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Features: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tracking, automated billing/EMI, and digital document management.</a:t>
            </a:r>
            <a:endParaRPr lang="en-US" sz="1000" dirty="0"/>
          </a:p>
        </p:txBody>
      </p:sp>
      <p:sp>
        <p:nvSpPr>
          <p:cNvPr id="29" name="Text 1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0914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0" y="640080"/>
            <a:ext cx="1883664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64008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Solution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4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" y="1874520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8745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18745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75488" y="2231136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2311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94560" y="223113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75488" y="2587752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5877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194560" y="258775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75488" y="2944368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9443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94560" y="294436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200400" y="13258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4475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5760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310128" y="1874520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25" name="Text 21"/>
          <p:cNvSpPr/>
          <p:nvPr/>
        </p:nvSpPr>
        <p:spPr>
          <a:xfrm>
            <a:off x="3429000" y="18745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</a:t>
            </a:r>
            <a:r>
              <a:rPr lang="en-US" sz="100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Web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0" y="18745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3310128" y="2231136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28" name="Text 24"/>
          <p:cNvSpPr/>
          <p:nvPr/>
        </p:nvSpPr>
        <p:spPr>
          <a:xfrm>
            <a:off x="3429000" y="22311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029200" y="223113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3310128" y="2587752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31" name="Text 27"/>
          <p:cNvSpPr/>
          <p:nvPr/>
        </p:nvSpPr>
        <p:spPr>
          <a:xfrm>
            <a:off x="3429000" y="25877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Services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029200" y="258775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3310128" y="2944368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34" name="Text 30"/>
          <p:cNvSpPr/>
          <p:nvPr/>
        </p:nvSpPr>
        <p:spPr>
          <a:xfrm>
            <a:off x="3429000" y="29443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029200" y="294436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6035040" y="13258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A274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444752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492240" y="1399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6144768" y="1874520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40" name="Text 35"/>
          <p:cNvSpPr/>
          <p:nvPr/>
        </p:nvSpPr>
        <p:spPr>
          <a:xfrm>
            <a:off x="6263640" y="18745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7863840" y="18745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6144768" y="2231136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43" name="Text 38"/>
          <p:cNvSpPr/>
          <p:nvPr/>
        </p:nvSpPr>
        <p:spPr>
          <a:xfrm>
            <a:off x="6263640" y="22311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7863840" y="223113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6144768" y="2587752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46" name="Text 41"/>
          <p:cNvSpPr/>
          <p:nvPr/>
        </p:nvSpPr>
        <p:spPr>
          <a:xfrm>
            <a:off x="6263640" y="25877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7863840" y="258775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6144768" y="2944368"/>
            <a:ext cx="2423160" cy="301752"/>
          </a:xfrm>
          <a:prstGeom prst="roundRect">
            <a:avLst>
              <a:gd name="adj" fmla="val 18182"/>
            </a:avLst>
          </a:prstGeom>
          <a:solidFill>
            <a:srgbClr val="1E2D4D"/>
          </a:solidFill>
          <a:ln/>
        </p:spPr>
      </p:sp>
      <p:sp>
        <p:nvSpPr>
          <p:cNvPr id="49" name="Text 44"/>
          <p:cNvSpPr/>
          <p:nvPr/>
        </p:nvSpPr>
        <p:spPr>
          <a:xfrm>
            <a:off x="6263640" y="29443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7863840" y="294436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51" name="Shape 46"/>
          <p:cNvSpPr/>
          <p:nvPr/>
        </p:nvSpPr>
        <p:spPr>
          <a:xfrm>
            <a:off x="365760" y="39319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05072"/>
            <a:ext cx="201168" cy="20116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3152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548640" y="4251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xUnit &amp; Moq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548640" y="44165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Jasmine &amp; Karma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548640" y="45811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InMemory DB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3200400" y="39319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4005072"/>
            <a:ext cx="201168" cy="201168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356616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Auth</a:t>
            </a:r>
            <a:endParaRPr lang="en-US" sz="1100" dirty="0"/>
          </a:p>
        </p:txBody>
      </p:sp>
      <p:sp>
        <p:nvSpPr>
          <p:cNvPr id="60" name="Text 53"/>
          <p:cNvSpPr/>
          <p:nvPr/>
        </p:nvSpPr>
        <p:spPr>
          <a:xfrm>
            <a:off x="3383280" y="4251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Bearer Tokens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3383280" y="44165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Auth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3383280" y="45811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&amp; HTTPS</a:t>
            </a:r>
            <a:endParaRPr lang="en-US" sz="800" dirty="0"/>
          </a:p>
        </p:txBody>
      </p:sp>
      <p:sp>
        <p:nvSpPr>
          <p:cNvPr id="63" name="Shape 56"/>
          <p:cNvSpPr/>
          <p:nvPr/>
        </p:nvSpPr>
        <p:spPr>
          <a:xfrm>
            <a:off x="6035040" y="39319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4005072"/>
            <a:ext cx="201168" cy="201168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640080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6" name="Text 58"/>
          <p:cNvSpPr/>
          <p:nvPr/>
        </p:nvSpPr>
        <p:spPr>
          <a:xfrm>
            <a:off x="6217920" y="4251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Architecture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6217920" y="44165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Exception</a:t>
            </a:r>
            <a:endParaRPr lang="en-US" sz="800" dirty="0"/>
          </a:p>
        </p:txBody>
      </p:sp>
      <p:sp>
        <p:nvSpPr>
          <p:cNvPr id="68" name="Text 60"/>
          <p:cNvSpPr/>
          <p:nvPr/>
        </p:nvSpPr>
        <p:spPr>
          <a:xfrm>
            <a:off x="6217920" y="45811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 / OpenAPI</a:t>
            </a:r>
            <a:endParaRPr lang="en-US" sz="800" dirty="0"/>
          </a:p>
        </p:txBody>
      </p:sp>
      <p:sp>
        <p:nvSpPr>
          <p:cNvPr id="69" name="Text 6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0" y="640080"/>
            <a:ext cx="1472184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640080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7160" y="1371600"/>
            <a:ext cx="1188720" cy="3108960"/>
          </a:xfrm>
          <a:prstGeom prst="roundRect">
            <a:avLst>
              <a:gd name="adj" fmla="val 9231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9047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01168" y="18288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(Angular 19)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28600" y="210312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E2D4D"/>
          </a:solidFill>
          <a:ln/>
        </p:spPr>
      </p:sp>
      <p:sp>
        <p:nvSpPr>
          <p:cNvPr id="11" name="Text 8"/>
          <p:cNvSpPr/>
          <p:nvPr/>
        </p:nvSpPr>
        <p:spPr>
          <a:xfrm>
            <a:off x="228600" y="2103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8600" y="2395728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E2D4D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23957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" y="268833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E2D4D"/>
          </a:solidFill>
          <a:ln/>
        </p:spPr>
      </p:sp>
      <p:sp>
        <p:nvSpPr>
          <p:cNvPr id="15" name="Text 12"/>
          <p:cNvSpPr/>
          <p:nvPr/>
        </p:nvSpPr>
        <p:spPr>
          <a:xfrm>
            <a:off x="228600" y="26883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8600" y="2980944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E2D4D"/>
          </a:solidFill>
          <a:ln/>
        </p:spPr>
      </p:sp>
      <p:sp>
        <p:nvSpPr>
          <p:cNvPr id="17" name="Text 14"/>
          <p:cNvSpPr/>
          <p:nvPr/>
        </p:nvSpPr>
        <p:spPr>
          <a:xfrm>
            <a:off x="228600" y="29809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28600" y="327355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E2D4D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" y="32735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28600" y="3657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HTTPS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REST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554480" y="1371600"/>
            <a:ext cx="4389120" cy="685800"/>
          </a:xfrm>
          <a:prstGeom prst="roundRect">
            <a:avLst>
              <a:gd name="adj" fmla="val 16000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536192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0116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01168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Action Filters, Exception Middleware, DTO Mapping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554480" y="2377440"/>
            <a:ext cx="4389120" cy="685800"/>
          </a:xfrm>
          <a:prstGeom prst="roundRect">
            <a:avLst>
              <a:gd name="adj" fmla="val 16000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254203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01168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 (Business Logic)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01168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Validation, Risk Calculations, Interfaces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1554480" y="3383280"/>
            <a:ext cx="4389120" cy="685800"/>
          </a:xfrm>
          <a:prstGeom prst="roundRect">
            <a:avLst>
              <a:gd name="adj" fmla="val 16000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3547872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01168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Layer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01168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Enums — Pure C# with Zero Dependencies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1554480" y="3977640"/>
            <a:ext cx="4389120" cy="685800"/>
          </a:xfrm>
          <a:prstGeom prst="roundRect">
            <a:avLst>
              <a:gd name="adj" fmla="val 16000"/>
            </a:avLst>
          </a:prstGeom>
          <a:solidFill>
            <a:srgbClr val="1A274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4142232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01168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Layer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201168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Repository Implementations, Background Services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3474720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↓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347472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↓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3474720" y="4069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↓</a:t>
            </a:r>
            <a:endParaRPr lang="en-US" sz="1800" dirty="0"/>
          </a:p>
        </p:txBody>
      </p:sp>
      <p:sp>
        <p:nvSpPr>
          <p:cNvPr id="40" name="Text 33"/>
          <p:cNvSpPr/>
          <p:nvPr/>
        </p:nvSpPr>
        <p:spPr>
          <a:xfrm>
            <a:off x="6400800" y="1371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1755648"/>
            <a:ext cx="164592" cy="16459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75120" y="1737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67512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distinct responsibility.</a:t>
            </a:r>
            <a:endParaRPr lang="en-US" sz="8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304288"/>
            <a:ext cx="164592" cy="16459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67512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67512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modules depend on abstractions.</a:t>
            </a:r>
            <a:endParaRPr lang="en-US" sz="8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852928"/>
            <a:ext cx="164592" cy="16459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675120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667512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data access for testability.</a:t>
            </a:r>
            <a:endParaRPr lang="en-US" sz="8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401568"/>
            <a:ext cx="164592" cy="16459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67512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000" dirty="0"/>
          </a:p>
        </p:txBody>
      </p:sp>
      <p:sp>
        <p:nvSpPr>
          <p:cNvPr id="52" name="Text 41"/>
          <p:cNvSpPr/>
          <p:nvPr/>
        </p:nvSpPr>
        <p:spPr>
          <a:xfrm>
            <a:off x="6675120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isolated for unit testing.</a:t>
            </a:r>
            <a:endParaRPr lang="en-US" sz="800" dirty="0"/>
          </a:p>
        </p:txBody>
      </p:sp>
      <p:sp>
        <p:nvSpPr>
          <p:cNvPr id="53" name="Text 4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Entity Relationship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0" y="64008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6400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EF Core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FullName, Email,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PasswordHash, Role, IsActive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 (FK),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BusinessName, IndustryType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Description,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IsActive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444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TypeId (FK), TierName,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BasePremium, CoverageLimit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ProfileId (FK), PlanId (FK),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RiskScore, CalculatedPremium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0" y="2514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QuoteId (FK), PolicyNumber,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PremiumAmount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PolicyId (FK), Amount,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DueDate, Status, IsEmi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949440" y="2514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587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InvoiceId (FK), AmountPaid,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PaymentMethod, TransRef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PolicyId (FK), ClaimNumber,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IncidentType, Status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0" y="3657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ClaimDocument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5176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ClaimId (FK), FileName,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FilePath, FileType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AgentId (FK), PolicyId (FK),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Amount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49440" y="36576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 (FK), Type,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Message, IsRead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4709160"/>
            <a:ext cx="4114800" cy="320040"/>
          </a:xfrm>
          <a:prstGeom prst="roundRect">
            <a:avLst>
              <a:gd name="adj" fmla="val 34286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709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Enums:  PolicyStatus (Active, Expired, Cancelled)  |  ClaimStatus (Submitted, UnderReview, Approved, Rejected, Settled)  |  UserRole (Admin, Agent, User, ClaimsOfficer)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0292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Entities  |  Code-First Migrations  |  Full Navigation Properties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Access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Dashboards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0" y="640080"/>
            <a:ext cx="1636776" cy="256032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0080"/>
            <a:ext cx="1636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Roles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691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Oversight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&amp; Role Management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1396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Plan CRUD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2340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System-wide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&amp; Performance KPIs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3716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8132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6636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66360" y="1691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Commissions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4632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Assigned Policies </a:t>
            </a:r>
            <a:r>
              <a:rPr lang="en-US" sz="9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46320" y="21396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Summary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46320" y="2340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KPIs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46320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Policy Support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5760" y="3017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272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8680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68680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Insurance &amp; Get Quotes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48640" y="37856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Policies &amp; History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Billing &amp; EMI Payments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48640" y="4187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&amp; Track Claims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663440" y="3017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A2744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127248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66360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Officer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5166360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Approval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84632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Claims Workflow Queue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846320" y="37856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Verification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4632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Reject / Settle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846320" y="4187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Settlement Processing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Insurance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Journey &amp; Policy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594360"/>
            <a:ext cx="2130552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594360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Visualization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61872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signup &amp; Business Profile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83080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38528" y="14630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1261872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532888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4248" y="16916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Plans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84248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Type, Coverage, Premium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38728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94176" y="14630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88536" y="1261872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288536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16916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Quote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9896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premium calc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94376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9824" y="14630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4184" y="126187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044184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95544" y="16916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Review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95544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Commission tag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50024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05472" y="146304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99832" y="126187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799832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51192" y="16916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51192" y="1938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issuance &amp; payment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" y="31089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2907792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" y="3584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&amp; Notification closure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38528" y="31089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32888" y="2907792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2532888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84248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Officer Review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84248" y="3584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Approve or Reject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94176" y="31089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88536" y="2907792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4288536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39896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Docs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39896" y="3584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police reports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9824" y="31089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44184" y="2907792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2" name="Text 50"/>
          <p:cNvSpPr/>
          <p:nvPr/>
        </p:nvSpPr>
        <p:spPr>
          <a:xfrm>
            <a:off x="6044184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95544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Claim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95544" y="3584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 via portal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05472" y="31089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99832" y="2907792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7" name="Text 55"/>
          <p:cNvSpPr/>
          <p:nvPr/>
        </p:nvSpPr>
        <p:spPr>
          <a:xfrm>
            <a:off x="7799832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51192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EMI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51192" y="3584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invoices &amp; auto-debit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343400"/>
            <a:ext cx="8229600" cy="9144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" y="4434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743200" y="4434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MGMT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46320" y="4434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132320" y="4434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Operational Workflows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&amp; Billing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0" y="640080"/>
            <a:ext cx="1801368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40080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267886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Process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600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to Settlement Flow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274320" cy="27432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Claim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9184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91440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incident details and upload evidence documents.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" y="2624328"/>
            <a:ext cx="274320" cy="27432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2578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9184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914400" y="2807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assigns least-loaded Claims Officer automatically.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3282696"/>
            <a:ext cx="274320" cy="27432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4400" y="3236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Decision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91840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914400" y="34655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documents. Approve (set amount), Reject, or Request Info.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2920" y="3941064"/>
            <a:ext cx="274320" cy="27432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3941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14400" y="3895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91840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14400" y="4123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payout processing and send status notification to user.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13149" y="2121408"/>
            <a:ext cx="4065091" cy="2679192"/>
          </a:xfrm>
          <a:prstGeom prst="roundRect">
            <a:avLst>
              <a:gd name="adj" fmla="val 3117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518" y="1344168"/>
            <a:ext cx="282114" cy="3657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66360" y="1389888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EMI System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800600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Subscription Cycle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84632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25780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63524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525780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846320" y="2624328"/>
            <a:ext cx="274320" cy="2743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846320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5257800" y="2578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763524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5257800" y="2807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transaction via CreditCard, DebitCard, NetBanking, UPI.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846320" y="3282696"/>
            <a:ext cx="274320" cy="2743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4632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5257800" y="3236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Conversion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7635240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5257800" y="34655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premiums into 3/6/12 month installments.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846320" y="3941064"/>
            <a:ext cx="274320" cy="2743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846320" y="3941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257800" y="3895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Audit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7635240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5257800" y="4123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 status updates and financial reporting dashboard.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Protection Layers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Security, Middleware &amp; Error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1732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6184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984248"/>
            <a:ext cx="137160" cy="137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1965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2179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using securely signed tokens.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32888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2514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21792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 via claims (Admin, Agent, Officer).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81528"/>
            <a:ext cx="137160" cy="1371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" y="3063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Hashing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1792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implementation for password storage.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315468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417320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6616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Defense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566160" y="16184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Security Layer</a:t>
            </a:r>
            <a:endParaRPr lang="en-US" sz="8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984248"/>
            <a:ext cx="137160" cy="1371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502152" y="1965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350215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AuthGuard &amp; RoleGuard prevent unauthorized navigation.</a:t>
            </a:r>
            <a:endParaRPr lang="en-US" sz="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532888"/>
            <a:ext cx="137160" cy="1371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02152" y="2514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Interceptors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3502152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attaches Bearer token to API requests.</a:t>
            </a:r>
            <a:endParaRPr lang="en-US" sz="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081528"/>
            <a:ext cx="137160" cy="1371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02152" y="3063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3502152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splitting restricts access to feature modules.</a:t>
            </a:r>
            <a:endParaRPr lang="en-US" sz="800" dirty="0"/>
          </a:p>
        </p:txBody>
      </p:sp>
      <p:sp>
        <p:nvSpPr>
          <p:cNvPr id="30" name="Shape 20"/>
          <p:cNvSpPr/>
          <p:nvPr/>
        </p:nvSpPr>
        <p:spPr>
          <a:xfrm>
            <a:off x="603504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417320"/>
            <a:ext cx="237744" cy="23774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44652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Resilience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6446520" y="16184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Filters</a:t>
            </a:r>
            <a:endParaRPr lang="en-US" sz="8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84248"/>
            <a:ext cx="137160" cy="13716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382512" y="1965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</a:t>
            </a:r>
            <a:endParaRPr lang="en-US" sz="1000" dirty="0"/>
          </a:p>
        </p:txBody>
      </p:sp>
      <p:sp>
        <p:nvSpPr>
          <p:cNvPr id="36" name="Text 24"/>
          <p:cNvSpPr/>
          <p:nvPr/>
        </p:nvSpPr>
        <p:spPr>
          <a:xfrm>
            <a:off x="638251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middleware returns standardized ApiResponse.</a:t>
            </a:r>
            <a:endParaRPr lang="en-US" sz="8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32888"/>
            <a:ext cx="137160" cy="13716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382512" y="2514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</a:t>
            </a:r>
            <a:endParaRPr lang="en-US" sz="1000" dirty="0"/>
          </a:p>
        </p:txBody>
      </p:sp>
      <p:sp>
        <p:nvSpPr>
          <p:cNvPr id="39" name="Text 26"/>
          <p:cNvSpPr/>
          <p:nvPr/>
        </p:nvSpPr>
        <p:spPr>
          <a:xfrm>
            <a:off x="6382512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request path, latency, and status codes.</a:t>
            </a:r>
            <a:endParaRPr lang="en-US" sz="8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081528"/>
            <a:ext cx="137160" cy="13716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382512" y="3063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Filter</a:t>
            </a:r>
            <a:endParaRPr lang="en-US" sz="1000" dirty="0"/>
          </a:p>
        </p:txBody>
      </p:sp>
      <p:sp>
        <p:nvSpPr>
          <p:cNvPr id="42" name="Text 28"/>
          <p:cNvSpPr/>
          <p:nvPr/>
        </p:nvSpPr>
        <p:spPr>
          <a:xfrm>
            <a:off x="6382512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model state validation before controller.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44" name="Text 30"/>
          <p:cNvSpPr/>
          <p:nvPr/>
        </p:nvSpPr>
        <p:spPr>
          <a:xfrm>
            <a:off x="27432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 dirty="0"/>
          </a:p>
        </p:txBody>
      </p:sp>
      <p:sp>
        <p:nvSpPr>
          <p:cNvPr id="45" name="Text 31"/>
          <p:cNvSpPr/>
          <p:nvPr/>
        </p:nvSpPr>
        <p:spPr>
          <a:xfrm>
            <a:off x="1280160" y="4709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→</a:t>
            </a:r>
            <a:endParaRPr lang="en-US" sz="1000" dirty="0"/>
          </a:p>
        </p:txBody>
      </p:sp>
      <p:sp>
        <p:nvSpPr>
          <p:cNvPr id="46" name="Text 32"/>
          <p:cNvSpPr/>
          <p:nvPr/>
        </p:nvSpPr>
        <p:spPr>
          <a:xfrm>
            <a:off x="164592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800" dirty="0"/>
          </a:p>
        </p:txBody>
      </p:sp>
      <p:sp>
        <p:nvSpPr>
          <p:cNvPr id="47" name="Text 33"/>
          <p:cNvSpPr/>
          <p:nvPr/>
        </p:nvSpPr>
        <p:spPr>
          <a:xfrm>
            <a:off x="2651760" y="4709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→</a:t>
            </a:r>
            <a:endParaRPr lang="en-US" sz="1000" dirty="0"/>
          </a:p>
        </p:txBody>
      </p:sp>
      <p:sp>
        <p:nvSpPr>
          <p:cNvPr id="48" name="Text 34"/>
          <p:cNvSpPr/>
          <p:nvPr/>
        </p:nvSpPr>
        <p:spPr>
          <a:xfrm>
            <a:off x="301752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49" name="Text 35"/>
          <p:cNvSpPr/>
          <p:nvPr/>
        </p:nvSpPr>
        <p:spPr>
          <a:xfrm>
            <a:off x="4023360" y="4709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→</a:t>
            </a:r>
            <a:endParaRPr lang="en-US" sz="1000" dirty="0"/>
          </a:p>
        </p:txBody>
      </p:sp>
      <p:sp>
        <p:nvSpPr>
          <p:cNvPr id="50" name="Text 36"/>
          <p:cNvSpPr/>
          <p:nvPr/>
        </p:nvSpPr>
        <p:spPr>
          <a:xfrm>
            <a:off x="438912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1" name="Text 37"/>
          <p:cNvSpPr/>
          <p:nvPr/>
        </p:nvSpPr>
        <p:spPr>
          <a:xfrm>
            <a:off x="5394960" y="4709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→</a:t>
            </a:r>
            <a:endParaRPr lang="en-US" sz="1000" dirty="0"/>
          </a:p>
        </p:txBody>
      </p:sp>
      <p:sp>
        <p:nvSpPr>
          <p:cNvPr id="52" name="Text 38"/>
          <p:cNvSpPr/>
          <p:nvPr/>
        </p:nvSpPr>
        <p:spPr>
          <a:xfrm>
            <a:off x="576072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53" name="Text 39"/>
          <p:cNvSpPr/>
          <p:nvPr/>
        </p:nvSpPr>
        <p:spPr>
          <a:xfrm>
            <a:off x="6766560" y="4709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→</a:t>
            </a:r>
            <a:endParaRPr lang="en-US" sz="1000" dirty="0"/>
          </a:p>
        </p:txBody>
      </p:sp>
      <p:sp>
        <p:nvSpPr>
          <p:cNvPr id="54" name="Text 40"/>
          <p:cNvSpPr/>
          <p:nvPr/>
        </p:nvSpPr>
        <p:spPr>
          <a:xfrm>
            <a:off x="713232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800" dirty="0"/>
          </a:p>
        </p:txBody>
      </p:sp>
      <p:sp>
        <p:nvSpPr>
          <p:cNvPr id="55" name="Text 4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Premium Pricing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Calculation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0" y="640080"/>
            <a:ext cx="1801368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40080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5-Factor Algorithm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FACTORS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100-Point Scale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Risk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011680"/>
            <a:ext cx="1207008" cy="164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219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Construction/Mining = 30, IT/Finance = 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2441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441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7004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70048"/>
            <a:ext cx="804672" cy="16459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80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 = 20, &lt;10 =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3099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30998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328416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328416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387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&gt;10M = 25, &lt;500K = 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3758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758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986784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986784"/>
            <a:ext cx="603504" cy="16459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9709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year = 15, &gt;10 years = 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44165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Claims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4416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645152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645152"/>
            <a:ext cx="402336" cy="1645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8554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claims = 0, 3+ claims = 10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12080" y="12801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1755648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623560" y="1737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1737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201168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1" name="Text 39"/>
          <p:cNvSpPr/>
          <p:nvPr/>
        </p:nvSpPr>
        <p:spPr>
          <a:xfrm>
            <a:off x="5623560" y="1993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19933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89520" y="19933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2267712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5623560" y="22494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22494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22494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94960" y="2523744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562356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25054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89520" y="25054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2080" y="32918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FORMULA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9496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Premium = Base Premium × Risk Multiplier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94960" y="4069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₹10,000 × 1.25 = ₹12,500/year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9496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is auto-calculated from the customer's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 at quote generation time.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Frontend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Reusable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0" y="640080"/>
            <a:ext cx="1472184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640080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297680" cy="3794760"/>
          </a:xfrm>
          <a:prstGeom prst="roundRect">
            <a:avLst>
              <a:gd name="adj" fmla="val 3117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472184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417320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Controllers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BASE_URL: /api/v1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5856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585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34440" y="2258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244144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414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34440" y="2441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PoliciesController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89864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8986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34440" y="2898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/policies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308152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8152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34440" y="3081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/policies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326440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26440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32644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/policies/renew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44728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4472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34440" y="3447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/policies/cancel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ClaimsController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390448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9044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234440" y="39044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/claims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" y="408736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0873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34440" y="4087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/claims/{id}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1520" y="427024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2702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234440" y="4270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/claims/decision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BillingController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472744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7274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234440" y="4727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/billing/dashboard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520" y="4910328"/>
            <a:ext cx="411480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91032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234440" y="4910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/billing/payments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509320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50932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128016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UI Library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132320" y="14173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14173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</a:t>
            </a:r>
            <a:r>
              <a:rPr lang="en-US" sz="800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00600" y="1783080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1801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Box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89520" y="18013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92040" y="1965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warning, or error messages.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00600" y="2167128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2185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89520" y="2185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892040" y="23500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grid with sort, filter, and pagination.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00600" y="2551176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64" name="Text 62"/>
          <p:cNvSpPr/>
          <p:nvPr/>
        </p:nvSpPr>
        <p:spPr>
          <a:xfrm>
            <a:off x="4892040" y="2569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Modal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589520" y="2569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892040" y="27340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dialogs for critical user actions.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800600" y="2935224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68" name="Text 66"/>
          <p:cNvSpPr/>
          <p:nvPr/>
        </p:nvSpPr>
        <p:spPr>
          <a:xfrm>
            <a:off x="4892040" y="2953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89520" y="29535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Element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892040" y="31181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chips for Policy/Claim status.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800600" y="3319272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72" name="Text 70"/>
          <p:cNvSpPr/>
          <p:nvPr/>
        </p:nvSpPr>
        <p:spPr>
          <a:xfrm>
            <a:off x="4892040" y="3337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89520" y="33375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892040" y="35021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spinner for async HTTP operations.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800600" y="3703320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76" name="Text 74"/>
          <p:cNvSpPr/>
          <p:nvPr/>
        </p:nvSpPr>
        <p:spPr>
          <a:xfrm>
            <a:off x="4892040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589520" y="37216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892040" y="38862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widget for dashboard KPI display.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800600" y="4087368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80" name="Text 78"/>
          <p:cNvSpPr/>
          <p:nvPr/>
        </p:nvSpPr>
        <p:spPr>
          <a:xfrm>
            <a:off x="4892040" y="4105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89520" y="41056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4892040" y="42702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page navigation with signal state.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800600" y="4471416"/>
            <a:ext cx="3794760" cy="347472"/>
          </a:xfrm>
          <a:prstGeom prst="roundRect">
            <a:avLst>
              <a:gd name="adj" fmla="val 15789"/>
            </a:avLst>
          </a:prstGeom>
          <a:solidFill>
            <a:srgbClr val="1E2D4D"/>
          </a:solidFill>
          <a:ln/>
        </p:spPr>
      </p:sp>
      <p:sp>
        <p:nvSpPr>
          <p:cNvPr id="84" name="Text 82"/>
          <p:cNvSpPr/>
          <p:nvPr/>
        </p:nvSpPr>
        <p:spPr>
          <a:xfrm>
            <a:off x="4892040" y="44897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Pipe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589520" y="44897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892040" y="46542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amounts as ₹1,23,456.00 (Indian format).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Strategy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0" y="640080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008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Ready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153+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533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1783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533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125+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SPECS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12280" y="128016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3533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49440" y="1783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Distribution by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Unit/Domain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74520" y="2898648"/>
            <a:ext cx="258846" cy="146304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2224806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Integration/Service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74520" y="3172968"/>
            <a:ext cx="388268" cy="146304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2354228" y="3154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429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Controller/API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4520" y="3447288"/>
            <a:ext cx="258846" cy="146304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2224806" y="3429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3703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(UI)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74520" y="3721608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3703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3977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(FE)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74520" y="3995928"/>
            <a:ext cx="1294228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260188" y="3977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4251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Guards/Pipes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74520" y="4270248"/>
            <a:ext cx="647114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2613074" y="4251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37744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4871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4956048" y="248716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1" name="Shape 39"/>
          <p:cNvSpPr/>
          <p:nvPr/>
        </p:nvSpPr>
        <p:spPr>
          <a:xfrm>
            <a:off x="5111496" y="24871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24505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ci-pipeline — runner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0600" y="26974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[10:42:15] INFO Starting Test Runner...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00600" y="28529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[10:42:16] $ dotnet test ./CIPMS.Tests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00600" y="300837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Domain.PolicyTests.ShouldCalculatePremium [12ms]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00600" y="316382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Application.ClaimsService.ValidateClaim [45ms]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00600" y="331927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API.AuthController.Login_ReturnsToken [88ms]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00600" y="347472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25 more passed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00600" y="363016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[10:42:18] SUCCESS Backend Tests Passed (28/28)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800600" y="378561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[10:42:19] $ ng test --watch=false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800600" y="394106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PolicyListComponent &gt; should render rows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00600" y="409651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AuthGuard &gt; should redirect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00600" y="425196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122 more passed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800600" y="440740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[10:42:24] SUCCESS Frontend Tests Passed (125/125)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 &amp; Achievements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Outcomes &amp;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Insurance Lifecycle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from quote generation through claims settlement with 10-step workflow.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630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Risk Engine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1208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5-factor, 100-point risk scoring algorithm with automatic premium calculation and multiplier system.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65760" y="249631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3347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14400" y="2862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user roles (Admin, Agent, Customer, Officer) with JWT authentication and route guards.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663440" y="249631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3347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212080" y="2862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4-project .NET solution with proper separation of concerns, repository pattern, and dependency inversion.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65760" y="3666744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03904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3758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Frontend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14400" y="4032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with Signals (no RxJS), standalone components, Tailwind CSS, and Angular Material.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663440" y="3666744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803904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12080" y="3758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Automation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212080" y="4032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schedule generation, automated invoicing, overdue tracking, and multi-method payment processing.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CIPMS </a:t>
            </a:r>
            <a:r>
              <a:rPr lang="en-US" sz="16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60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Management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9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3657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40690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3657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0" y="40690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3657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40690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3657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40690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457200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57200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</a:t>
            </a:r>
            <a:r>
              <a:rPr lang="en-US" sz="800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4572000"/>
            <a:ext cx="758952" cy="256032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45720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</a:t>
            </a:r>
            <a:r>
              <a:rPr lang="en-US" sz="800" b="1" dirty="0" smtClean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47872" y="457200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457200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82312" y="4572000"/>
            <a:ext cx="832104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4572000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97296" y="4572000"/>
            <a:ext cx="905256" cy="256032"/>
          </a:xfrm>
          <a:prstGeom prst="roundRect">
            <a:avLst>
              <a:gd name="adj" fmla="val 50000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97296" y="4572000"/>
            <a:ext cx="905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1610</Words>
  <Application>Microsoft Office PowerPoint</Application>
  <PresentationFormat>On-screen Show (16:9)</PresentationFormat>
  <Paragraphs>472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CIPMS - Corporate Insurance Policy Management System</dc:title>
  <dc:subject>PptxGenJS Presentation</dc:subject>
  <dc:creator>CIPMS Team</dc:creator>
  <cp:lastModifiedBy>umamaheswar reddy</cp:lastModifiedBy>
  <cp:revision>8</cp:revision>
  <dcterms:created xsi:type="dcterms:W3CDTF">2026-03-04T06:59:50Z</dcterms:created>
  <dcterms:modified xsi:type="dcterms:W3CDTF">2026-03-09T09:30:37Z</dcterms:modified>
</cp:coreProperties>
</file>